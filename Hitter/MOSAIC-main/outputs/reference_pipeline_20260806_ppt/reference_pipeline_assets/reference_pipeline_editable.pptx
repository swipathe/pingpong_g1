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version for YHL. Six separate PNG pictures are embedded without changing their bytes. All 16 labels are native text boxes; the 3 panels and 2 arrows are native PowerPoint shapes. Use the Selection Pane to select objects by their descriptive names. To insert the complete diagram into another presentation: select all slide objects, copy and paste, then group and resize proportionally if needed. Ungroup to edit individually. This slide retains the original 10:3 figure aspect ratio. Dataset: 20260806_mqy_capture. F7: forehand clip 010, video/SMPL-X/pre-align frame 34, aligned frame 31. B7: backhand clip 011, video/SMPL-X/pre-align frame 35, aligned frame 31. Robot panels are PyBullet renders of the matching NPZ 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gure title"/>
          <p:cNvSpPr txBox="1"/>
          <p:nvPr/>
        </p:nvSpPr>
        <p:spPr>
          <a:xfrm>
            <a:off x="391886" y="153271"/>
            <a:ext cx="13062857" cy="4598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4" b="1">
                <a:solidFill>
                  <a:srgbClr val="162C49"/>
                </a:solidFill>
                <a:latin typeface="Arial"/>
              </a:rPr>
              <a:t>Reference Motion Processing</a:t>
            </a:r>
          </a:p>
        </p:txBody>
      </p:sp>
      <p:sp>
        <p:nvSpPr>
          <p:cNvPr id="3" name="Figure subtitle"/>
          <p:cNvSpPr txBox="1"/>
          <p:nvPr/>
        </p:nvSpPr>
        <p:spPr>
          <a:xfrm>
            <a:off x="391886" y="542544"/>
            <a:ext cx="13062857" cy="2299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>
                <a:solidFill>
                  <a:srgbClr val="61728A"/>
                </a:solidFill>
                <a:latin typeface="Arial"/>
              </a:rPr>
              <a:t>Human demonstrations to robot reference motion</a:t>
            </a:r>
          </a:p>
        </p:txBody>
      </p:sp>
      <p:sp>
        <p:nvSpPr>
          <p:cNvPr id="4" name="Human Video - Editable panel"/>
          <p:cNvSpPr/>
          <p:nvPr/>
        </p:nvSpPr>
        <p:spPr>
          <a:xfrm>
            <a:off x="391886" y="957943"/>
            <a:ext cx="4789714" cy="3901440"/>
          </a:xfrm>
          <a:prstGeom prst="roundRect">
            <a:avLst>
              <a:gd name="adj" fmla="val 2678"/>
            </a:avLst>
          </a:prstGeom>
          <a:solidFill>
            <a:srgbClr val="F6F9FD"/>
          </a:solidFill>
          <a:ln w="13062">
            <a:solidFill>
              <a:srgbClr val="CF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uman Video - Heading"/>
          <p:cNvSpPr txBox="1"/>
          <p:nvPr/>
        </p:nvSpPr>
        <p:spPr>
          <a:xfrm>
            <a:off x="522514" y="1005078"/>
            <a:ext cx="4528457" cy="2801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>
                <a:solidFill>
                  <a:srgbClr val="162C49"/>
                </a:solidFill>
                <a:latin typeface="Arial"/>
              </a:rPr>
              <a:t>Human Video</a:t>
            </a:r>
          </a:p>
        </p:txBody>
      </p:sp>
      <p:pic>
        <p:nvPicPr>
          <p:cNvPr id="6" name="Human Video - Forehand (F7) - Original PNG" descr="F7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349829"/>
            <a:ext cx="2220686" cy="3291840"/>
          </a:xfrm>
          <a:prstGeom prst="rect">
            <a:avLst/>
          </a:prstGeom>
        </p:spPr>
      </p:pic>
      <p:sp>
        <p:nvSpPr>
          <p:cNvPr id="7" name="Human Video - Forehand caption"/>
          <p:cNvSpPr txBox="1"/>
          <p:nvPr/>
        </p:nvSpPr>
        <p:spPr>
          <a:xfrm>
            <a:off x="522514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Forehand</a:t>
            </a:r>
          </a:p>
        </p:txBody>
      </p:sp>
      <p:pic>
        <p:nvPicPr>
          <p:cNvPr id="8" name="Human Video - Backhand (B7) - Original PNG" descr="B7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29" y="1349829"/>
            <a:ext cx="2220686" cy="3291840"/>
          </a:xfrm>
          <a:prstGeom prst="rect">
            <a:avLst/>
          </a:prstGeom>
        </p:spPr>
      </p:pic>
      <p:sp>
        <p:nvSpPr>
          <p:cNvPr id="9" name="Human Video - Backhand caption"/>
          <p:cNvSpPr txBox="1"/>
          <p:nvPr/>
        </p:nvSpPr>
        <p:spPr>
          <a:xfrm>
            <a:off x="2873829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Backhand</a:t>
            </a:r>
          </a:p>
        </p:txBody>
      </p:sp>
      <p:sp>
        <p:nvSpPr>
          <p:cNvPr id="10" name="Reconstructed Human - Editable panel"/>
          <p:cNvSpPr/>
          <p:nvPr/>
        </p:nvSpPr>
        <p:spPr>
          <a:xfrm>
            <a:off x="6749143" y="957943"/>
            <a:ext cx="4789714" cy="3901440"/>
          </a:xfrm>
          <a:prstGeom prst="roundRect">
            <a:avLst>
              <a:gd name="adj" fmla="val 2678"/>
            </a:avLst>
          </a:prstGeom>
          <a:solidFill>
            <a:srgbClr val="F6F9FD"/>
          </a:solidFill>
          <a:ln w="13062">
            <a:solidFill>
              <a:srgbClr val="CF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nstructed Human - Heading"/>
          <p:cNvSpPr txBox="1"/>
          <p:nvPr/>
        </p:nvSpPr>
        <p:spPr>
          <a:xfrm>
            <a:off x="6879771" y="1005078"/>
            <a:ext cx="4528457" cy="2801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>
                <a:solidFill>
                  <a:srgbClr val="162C49"/>
                </a:solidFill>
                <a:latin typeface="Arial"/>
              </a:rPr>
              <a:t>Reconstructed Human</a:t>
            </a:r>
          </a:p>
        </p:txBody>
      </p:sp>
      <p:pic>
        <p:nvPicPr>
          <p:cNvPr id="12" name="Reconstructed Human - Forehand (F7) - Original PNG" descr="F7_reconstr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771" y="1349829"/>
            <a:ext cx="2220686" cy="3291840"/>
          </a:xfrm>
          <a:prstGeom prst="rect">
            <a:avLst/>
          </a:prstGeom>
        </p:spPr>
      </p:pic>
      <p:sp>
        <p:nvSpPr>
          <p:cNvPr id="13" name="Reconstructed Human - Forehand caption"/>
          <p:cNvSpPr txBox="1"/>
          <p:nvPr/>
        </p:nvSpPr>
        <p:spPr>
          <a:xfrm>
            <a:off x="6879771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Forehand</a:t>
            </a:r>
          </a:p>
        </p:txBody>
      </p:sp>
      <p:pic>
        <p:nvPicPr>
          <p:cNvPr id="14" name="Reconstructed Human - Backhand (B7) - Original PNG" descr="B7_reconstru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086" y="1349829"/>
            <a:ext cx="2220686" cy="3291840"/>
          </a:xfrm>
          <a:prstGeom prst="rect">
            <a:avLst/>
          </a:prstGeom>
        </p:spPr>
      </p:pic>
      <p:sp>
        <p:nvSpPr>
          <p:cNvPr id="15" name="Reconstructed Human - Backhand caption"/>
          <p:cNvSpPr txBox="1"/>
          <p:nvPr/>
        </p:nvSpPr>
        <p:spPr>
          <a:xfrm>
            <a:off x="9231086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Backhand</a:t>
            </a:r>
          </a:p>
        </p:txBody>
      </p:sp>
      <p:sp>
        <p:nvSpPr>
          <p:cNvPr id="16" name="Retargeted Robot - Editable panel"/>
          <p:cNvSpPr/>
          <p:nvPr/>
        </p:nvSpPr>
        <p:spPr>
          <a:xfrm>
            <a:off x="13106400" y="957943"/>
            <a:ext cx="4789714" cy="3901440"/>
          </a:xfrm>
          <a:prstGeom prst="roundRect">
            <a:avLst>
              <a:gd name="adj" fmla="val 2678"/>
            </a:avLst>
          </a:prstGeom>
          <a:solidFill>
            <a:srgbClr val="F6F9FD"/>
          </a:solidFill>
          <a:ln w="13062">
            <a:solidFill>
              <a:srgbClr val="CF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targeted Robot - Heading"/>
          <p:cNvSpPr txBox="1"/>
          <p:nvPr/>
        </p:nvSpPr>
        <p:spPr>
          <a:xfrm>
            <a:off x="13237029" y="1005078"/>
            <a:ext cx="4528457" cy="2801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>
                <a:solidFill>
                  <a:srgbClr val="162C49"/>
                </a:solidFill>
                <a:latin typeface="Arial"/>
              </a:rPr>
              <a:t>Retargeted Robot</a:t>
            </a:r>
          </a:p>
        </p:txBody>
      </p:sp>
      <p:pic>
        <p:nvPicPr>
          <p:cNvPr id="18" name="Retargeted Robot - Forehand (F7) - Original PNG" descr="F7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7029" y="1349829"/>
            <a:ext cx="2220686" cy="3291840"/>
          </a:xfrm>
          <a:prstGeom prst="rect">
            <a:avLst/>
          </a:prstGeom>
        </p:spPr>
      </p:pic>
      <p:sp>
        <p:nvSpPr>
          <p:cNvPr id="19" name="Retargeted Robot - Forehand caption"/>
          <p:cNvSpPr txBox="1"/>
          <p:nvPr/>
        </p:nvSpPr>
        <p:spPr>
          <a:xfrm>
            <a:off x="13237029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Forehand</a:t>
            </a:r>
          </a:p>
        </p:txBody>
      </p:sp>
      <p:pic>
        <p:nvPicPr>
          <p:cNvPr id="20" name="Retargeted Robot - Backhand (B7) - Original PNG" descr="B7_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88343" y="1349829"/>
            <a:ext cx="2220686" cy="3291840"/>
          </a:xfrm>
          <a:prstGeom prst="rect">
            <a:avLst/>
          </a:prstGeom>
        </p:spPr>
      </p:pic>
      <p:sp>
        <p:nvSpPr>
          <p:cNvPr id="21" name="Retargeted Robot - Backhand caption"/>
          <p:cNvSpPr txBox="1"/>
          <p:nvPr/>
        </p:nvSpPr>
        <p:spPr>
          <a:xfrm>
            <a:off x="15588343" y="4641995"/>
            <a:ext cx="2220686" cy="2083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4" b="0">
                <a:solidFill>
                  <a:srgbClr val="476381"/>
                </a:solidFill>
                <a:latin typeface="Arial"/>
              </a:rPr>
              <a:t>Backhand</a:t>
            </a:r>
          </a:p>
        </p:txBody>
      </p:sp>
      <p:sp>
        <p:nvSpPr>
          <p:cNvPr id="22" name="Reconstruction - Label"/>
          <p:cNvSpPr txBox="1"/>
          <p:nvPr/>
        </p:nvSpPr>
        <p:spPr>
          <a:xfrm>
            <a:off x="5225143" y="2399756"/>
            <a:ext cx="1480457" cy="2514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C49"/>
                </a:solidFill>
                <a:latin typeface="Arial"/>
              </a:rPr>
              <a:t>Reconstruction</a:t>
            </a:r>
          </a:p>
        </p:txBody>
      </p:sp>
      <p:sp>
        <p:nvSpPr>
          <p:cNvPr id="23" name="Reconstruction - Editable arrow"/>
          <p:cNvSpPr/>
          <p:nvPr/>
        </p:nvSpPr>
        <p:spPr>
          <a:xfrm>
            <a:off x="5312229" y="2804160"/>
            <a:ext cx="1306286" cy="182880"/>
          </a:xfrm>
          <a:prstGeom prst="rightArrow">
            <a:avLst>
              <a:gd name="adj1" fmla="val 19047"/>
              <a:gd name="adj2" fmla="val 78571"/>
            </a:avLst>
          </a:prstGeom>
          <a:solidFill>
            <a:srgbClr val="35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onstruction - Method"/>
          <p:cNvSpPr txBox="1"/>
          <p:nvPr/>
        </p:nvSpPr>
        <p:spPr>
          <a:xfrm>
            <a:off x="5312229" y="3062913"/>
            <a:ext cx="1306286" cy="2227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2" b="0">
                <a:solidFill>
                  <a:srgbClr val="5A7192"/>
                </a:solidFill>
                <a:latin typeface="Arial"/>
              </a:rPr>
              <a:t>GVHMR</a:t>
            </a:r>
          </a:p>
        </p:txBody>
      </p:sp>
      <p:sp>
        <p:nvSpPr>
          <p:cNvPr id="25" name="Retargeting - Label"/>
          <p:cNvSpPr txBox="1"/>
          <p:nvPr/>
        </p:nvSpPr>
        <p:spPr>
          <a:xfrm>
            <a:off x="11582400" y="2399756"/>
            <a:ext cx="1480457" cy="2514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C49"/>
                </a:solidFill>
                <a:latin typeface="Arial"/>
              </a:rPr>
              <a:t>Retargeting</a:t>
            </a:r>
          </a:p>
        </p:txBody>
      </p:sp>
      <p:sp>
        <p:nvSpPr>
          <p:cNvPr id="26" name="Retargeting - Editable arrow"/>
          <p:cNvSpPr/>
          <p:nvPr/>
        </p:nvSpPr>
        <p:spPr>
          <a:xfrm>
            <a:off x="11669486" y="2804160"/>
            <a:ext cx="1306286" cy="182880"/>
          </a:xfrm>
          <a:prstGeom prst="rightArrow">
            <a:avLst>
              <a:gd name="adj1" fmla="val 19047"/>
              <a:gd name="adj2" fmla="val 78571"/>
            </a:avLst>
          </a:prstGeom>
          <a:solidFill>
            <a:srgbClr val="35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targeting - Method"/>
          <p:cNvSpPr txBox="1"/>
          <p:nvPr/>
        </p:nvSpPr>
        <p:spPr>
          <a:xfrm>
            <a:off x="11669486" y="3062913"/>
            <a:ext cx="1306286" cy="2227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2" b="0">
                <a:solidFill>
                  <a:srgbClr val="5A7192"/>
                </a:solidFill>
                <a:latin typeface="Arial"/>
              </a:rPr>
              <a:t>GMR</a:t>
            </a:r>
          </a:p>
        </p:txBody>
      </p:sp>
      <p:sp>
        <p:nvSpPr>
          <p:cNvPr id="28" name="NPZ post-processing note"/>
          <p:cNvSpPr txBox="1"/>
          <p:nvPr/>
        </p:nvSpPr>
        <p:spPr>
          <a:xfrm>
            <a:off x="13106400" y="5004163"/>
            <a:ext cx="4789714" cy="2155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>
                <a:solidFill>
                  <a:srgbClr val="476381"/>
                </a:solidFill>
                <a:latin typeface="Arial"/>
              </a:rPr>
              <a:t>Post-processing &amp; alignment → Reference NPZ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Motion Processing — Editable</dc:title>
  <dc:subject>Native editable labels, arrows and panels; original F7/B7 images</dc:subject>
  <dc:creator>YHL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